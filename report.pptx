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ormorant Garamond Semi-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imes New Roman Bold" panose="02020803070505020304" pitchFamily="18" charset="0"/>
      <p:bold r:id="rId24"/>
    </p:embeddedFont>
    <p:embeddedFont>
      <p:font typeface="Work Sans Semi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6" d="100"/>
          <a:sy n="76" d="100"/>
        </p:scale>
        <p:origin x="-41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80188" y="1964591"/>
            <a:ext cx="14426390" cy="607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28"/>
              </a:lnSpc>
            </a:pPr>
            <a:r>
              <a:rPr lang="en-US" sz="68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STOCK TREND AI  </a:t>
            </a:r>
          </a:p>
          <a:p>
            <a:pPr algn="ctr">
              <a:lnSpc>
                <a:spcPts val="10728"/>
              </a:lnSpc>
            </a:pPr>
            <a:r>
              <a:rPr lang="en-US" sz="68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STOCK MARKET </a:t>
            </a:r>
          </a:p>
          <a:p>
            <a:pPr algn="ctr">
              <a:lnSpc>
                <a:spcPts val="10728"/>
              </a:lnSpc>
            </a:pPr>
            <a:r>
              <a:rPr lang="en-US" sz="68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FORECASTING MODEL</a:t>
            </a:r>
          </a:p>
          <a:p>
            <a:pPr algn="ctr">
              <a:lnSpc>
                <a:spcPts val="9786"/>
              </a:lnSpc>
            </a:pPr>
            <a:endParaRPr lang="en-US" sz="6833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549"/>
              </a:lnSpc>
            </a:pPr>
            <a:endParaRPr lang="en-US" sz="6833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00308" y="7129901"/>
            <a:ext cx="10985535" cy="64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26"/>
              </a:lnSpc>
              <a:spcBef>
                <a:spcPct val="0"/>
              </a:spcBef>
            </a:pPr>
            <a:r>
              <a:rPr lang="en-US" sz="4867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Kanakamedala Samyutha</a:t>
            </a:r>
          </a:p>
        </p:txBody>
      </p:sp>
      <p:sp>
        <p:nvSpPr>
          <p:cNvPr id="6" name="AutoShape 6"/>
          <p:cNvSpPr/>
          <p:nvPr/>
        </p:nvSpPr>
        <p:spPr>
          <a:xfrm>
            <a:off x="4339056" y="925830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14213" y="854053"/>
            <a:ext cx="11097256" cy="138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6703" y="2395254"/>
            <a:ext cx="14274595" cy="770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9701" lvl="1" indent="-484850" algn="l">
              <a:lnSpc>
                <a:spcPts val="8309"/>
              </a:lnSpc>
              <a:buFont typeface="Arial"/>
              <a:buChar char="•"/>
            </a:pPr>
            <a:r>
              <a:rPr lang="en-US" sz="4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market prediction is a complex task due to highly dynamic financial data.</a:t>
            </a:r>
          </a:p>
          <a:p>
            <a:pPr marL="969701" lvl="1" indent="-484850" algn="l">
              <a:lnSpc>
                <a:spcPts val="8309"/>
              </a:lnSpc>
              <a:buFont typeface="Arial"/>
              <a:buChar char="•"/>
            </a:pPr>
            <a:r>
              <a:rPr lang="en-US" sz="4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uses deep learning and time-series analysis to forecast stock price trends.</a:t>
            </a:r>
          </a:p>
          <a:p>
            <a:pPr marL="969701" lvl="1" indent="-484850" algn="l">
              <a:lnSpc>
                <a:spcPts val="8309"/>
              </a:lnSpc>
              <a:buFont typeface="Arial"/>
              <a:buChar char="•"/>
            </a:pPr>
            <a:r>
              <a:rPr lang="en-US" sz="4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historical data to predict future market movements.</a:t>
            </a:r>
          </a:p>
          <a:p>
            <a:pPr algn="ctr">
              <a:lnSpc>
                <a:spcPts val="5030"/>
              </a:lnSpc>
            </a:pPr>
            <a:endParaRPr lang="en-US" sz="449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ts val="5030"/>
              </a:lnSpc>
            </a:pPr>
            <a:endParaRPr lang="en-US" sz="449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368794" y="3777954"/>
            <a:ext cx="4209986" cy="4272356"/>
          </a:xfrm>
          <a:custGeom>
            <a:avLst/>
            <a:gdLst/>
            <a:ahLst/>
            <a:cxnLst/>
            <a:rect l="l" t="t" r="r" b="b"/>
            <a:pathLst>
              <a:path w="4209986" h="4272356">
                <a:moveTo>
                  <a:pt x="0" y="0"/>
                </a:moveTo>
                <a:lnTo>
                  <a:pt x="4209986" y="0"/>
                </a:lnTo>
                <a:lnTo>
                  <a:pt x="4209986" y="4272355"/>
                </a:lnTo>
                <a:lnTo>
                  <a:pt x="0" y="427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22880" y="1171575"/>
            <a:ext cx="13042239" cy="112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9"/>
              </a:lnSpc>
            </a:pPr>
            <a:r>
              <a:rPr lang="en-US" sz="8313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22880" y="2842784"/>
            <a:ext cx="9027208" cy="560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41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market prices fluctuate due to economic, financial, and market factors.</a:t>
            </a:r>
          </a:p>
          <a:p>
            <a:pPr algn="l">
              <a:lnSpc>
                <a:spcPts val="7484"/>
              </a:lnSpc>
            </a:pPr>
            <a:r>
              <a:rPr lang="en-US" sz="41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prediction methods often fail to capture complex temporal patterns.</a:t>
            </a:r>
          </a:p>
          <a:p>
            <a:pPr marL="0" lvl="0" indent="0" algn="l">
              <a:lnSpc>
                <a:spcPts val="7484"/>
              </a:lnSpc>
            </a:pPr>
            <a:r>
              <a:rPr lang="en-US" sz="41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AI-based system is required for more reliable stock trend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95372" y="1280215"/>
            <a:ext cx="11097256" cy="138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ABSTRACT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99594" y="3395673"/>
            <a:ext cx="950189" cy="950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26902" y="3290898"/>
            <a:ext cx="10356883" cy="22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0"/>
              </a:lnSpc>
            </a:pPr>
            <a:r>
              <a:rPr lang="en-US" sz="41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StockTrendAI is a forecasting system that uses LSTM deep learning models to predict stock prices.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5200" y="3471873"/>
            <a:ext cx="720172" cy="7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5152" b="1">
                <a:solidFill>
                  <a:srgbClr val="F5F8F1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864024" y="5959564"/>
            <a:ext cx="950189" cy="9501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426902" y="5826214"/>
            <a:ext cx="9306250" cy="304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Apple stock data is analyzed and preprocessed for model training.</a:t>
            </a:r>
          </a:p>
          <a:p>
            <a:pPr marL="0" lvl="0" indent="0" algn="l">
              <a:lnSpc>
                <a:spcPts val="6027"/>
              </a:lnSpc>
            </a:pPr>
            <a:r>
              <a:rPr lang="en-US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predicts the next-day stock trend and visualizes prediction results.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9032" y="6119556"/>
            <a:ext cx="720172" cy="7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5152" b="1">
                <a:solidFill>
                  <a:srgbClr val="F5F8F1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595840" y="96194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95372" y="1329362"/>
            <a:ext cx="11097256" cy="138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SOLUTION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94579" y="3500635"/>
            <a:ext cx="268370" cy="268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3595372" y="3004015"/>
            <a:ext cx="12760996" cy="582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sz="43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applies Long Short-Term Memory (LSTM) networks to learn time-series patterns.</a:t>
            </a:r>
          </a:p>
          <a:p>
            <a:pPr algn="l">
              <a:lnSpc>
                <a:spcPts val="7768"/>
              </a:lnSpc>
            </a:pPr>
            <a:r>
              <a:rPr lang="en-US" sz="43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analyzes historical stock prices and predicts future price movements.</a:t>
            </a:r>
          </a:p>
          <a:p>
            <a:pPr algn="l">
              <a:lnSpc>
                <a:spcPts val="7768"/>
              </a:lnSpc>
            </a:pPr>
            <a:r>
              <a:rPr lang="en-US" sz="43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interactive dashboard visualizes trends and prediction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95292" y="2903312"/>
            <a:ext cx="11134777" cy="504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2068" lvl="1" indent="-496034" algn="l">
              <a:lnSpc>
                <a:spcPts val="8087"/>
              </a:lnSpc>
              <a:buFont typeface="Arial"/>
              <a:buChar char="•"/>
            </a:pPr>
            <a:r>
              <a:rPr lang="en-US" sz="4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 Python</a:t>
            </a:r>
          </a:p>
          <a:p>
            <a:pPr marL="992068" lvl="1" indent="-496034" algn="l">
              <a:lnSpc>
                <a:spcPts val="8087"/>
              </a:lnSpc>
              <a:buFont typeface="Arial"/>
              <a:buChar char="•"/>
            </a:pPr>
            <a:r>
              <a:rPr lang="en-US" sz="4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Libraries: TensorFlow, Keras, Pandas, NumPy, Scikit-Learn</a:t>
            </a:r>
          </a:p>
          <a:p>
            <a:pPr marL="992068" lvl="1" indent="-496034" algn="l">
              <a:lnSpc>
                <a:spcPts val="8087"/>
              </a:lnSpc>
              <a:buFont typeface="Arial"/>
              <a:buChar char="•"/>
            </a:pPr>
            <a:r>
              <a:rPr lang="en-US" sz="4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&amp; Dashboard: Matplotlib, Plotly, Streamlit</a:t>
            </a:r>
          </a:p>
        </p:txBody>
      </p:sp>
      <p:sp>
        <p:nvSpPr>
          <p:cNvPr id="5" name="AutoShape 5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330070" y="3285515"/>
            <a:ext cx="3547614" cy="4324073"/>
          </a:xfrm>
          <a:custGeom>
            <a:avLst/>
            <a:gdLst/>
            <a:ahLst/>
            <a:cxnLst/>
            <a:rect l="l" t="t" r="r" b="b"/>
            <a:pathLst>
              <a:path w="3547614" h="4324073">
                <a:moveTo>
                  <a:pt x="0" y="0"/>
                </a:moveTo>
                <a:lnTo>
                  <a:pt x="3547614" y="0"/>
                </a:lnTo>
                <a:lnTo>
                  <a:pt x="3547614" y="4324073"/>
                </a:lnTo>
                <a:lnTo>
                  <a:pt x="0" y="4324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45796" y="1494397"/>
            <a:ext cx="12596407" cy="100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6"/>
              </a:lnSpc>
            </a:pPr>
            <a:r>
              <a:rPr lang="en-US" sz="7457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900649" y="9503273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357434" y="1740995"/>
            <a:ext cx="10396805" cy="7017844"/>
          </a:xfrm>
          <a:custGeom>
            <a:avLst/>
            <a:gdLst/>
            <a:ahLst/>
            <a:cxnLst/>
            <a:rect l="l" t="t" r="r" b="b"/>
            <a:pathLst>
              <a:path w="10396805" h="7017844">
                <a:moveTo>
                  <a:pt x="0" y="0"/>
                </a:moveTo>
                <a:lnTo>
                  <a:pt x="10396806" y="0"/>
                </a:lnTo>
                <a:lnTo>
                  <a:pt x="10396806" y="7017843"/>
                </a:lnTo>
                <a:lnTo>
                  <a:pt x="0" y="7017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12901" y="508464"/>
            <a:ext cx="13285871" cy="953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9"/>
              </a:lnSpc>
            </a:pPr>
            <a:r>
              <a:rPr lang="en-US" sz="7126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ARCHITECTURE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54044" y="2883446"/>
            <a:ext cx="8464234" cy="516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723" lvl="1" indent="-356862" algn="l">
              <a:lnSpc>
                <a:spcPts val="5851"/>
              </a:lnSpc>
              <a:buFont typeface="Arial"/>
              <a:buChar char="•"/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uniquely combines time-series analysis and deep learning (LSTM) to forecast stock price trends from historical data.</a:t>
            </a:r>
          </a:p>
          <a:p>
            <a:pPr marL="713723" lvl="1" indent="-356862" algn="l">
              <a:lnSpc>
                <a:spcPts val="5851"/>
              </a:lnSpc>
              <a:buFont typeface="Arial"/>
              <a:buChar char="•"/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also integrates an interactive dashboard that visualizes predictions, stock trends, and performance metrics for better interpretation.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10858462" y="3760470"/>
            <a:ext cx="5776743" cy="2766060"/>
          </a:xfrm>
          <a:custGeom>
            <a:avLst/>
            <a:gdLst/>
            <a:ahLst/>
            <a:cxnLst/>
            <a:rect l="l" t="t" r="r" b="b"/>
            <a:pathLst>
              <a:path w="5776743" h="2766060">
                <a:moveTo>
                  <a:pt x="0" y="0"/>
                </a:moveTo>
                <a:lnTo>
                  <a:pt x="5776743" y="0"/>
                </a:lnTo>
                <a:lnTo>
                  <a:pt x="5776743" y="2766060"/>
                </a:lnTo>
                <a:lnTo>
                  <a:pt x="0" y="2766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89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25074" y="1069934"/>
            <a:ext cx="4522174" cy="117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6"/>
              </a:lnSpc>
              <a:spcBef>
                <a:spcPct val="0"/>
              </a:spcBef>
            </a:pPr>
            <a:r>
              <a:rPr lang="en-US" sz="5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14213" y="1893821"/>
            <a:ext cx="11301259" cy="4237972"/>
          </a:xfrm>
          <a:custGeom>
            <a:avLst/>
            <a:gdLst/>
            <a:ahLst/>
            <a:cxnLst/>
            <a:rect l="l" t="t" r="r" b="b"/>
            <a:pathLst>
              <a:path w="11301259" h="4237972">
                <a:moveTo>
                  <a:pt x="0" y="0"/>
                </a:moveTo>
                <a:lnTo>
                  <a:pt x="11301259" y="0"/>
                </a:lnTo>
                <a:lnTo>
                  <a:pt x="11301259" y="4237972"/>
                </a:lnTo>
                <a:lnTo>
                  <a:pt x="0" y="4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5742" y="6484218"/>
            <a:ext cx="12218201" cy="261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837" lvl="1" indent="-369918" algn="l">
              <a:lnSpc>
                <a:spcPts val="5242"/>
              </a:lnSpc>
              <a:buFont typeface="Arial"/>
              <a:buChar char="•"/>
            </a:pPr>
            <a:r>
              <a:rPr lang="en-US" sz="34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stock price data of Apple Inc. (AAPL) was collected using the Yahoo Finance API.</a:t>
            </a:r>
          </a:p>
          <a:p>
            <a:pPr marL="739837" lvl="1" indent="-369918" algn="l">
              <a:lnSpc>
                <a:spcPts val="5242"/>
              </a:lnSpc>
              <a:buFont typeface="Arial"/>
              <a:buChar char="•"/>
            </a:pPr>
            <a:r>
              <a:rPr lang="en-US" sz="34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dataset includes attributes such as Open, High, Low, Close, and Volume, which are used for training the prediction model.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14212" y="461357"/>
            <a:ext cx="2815187" cy="83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1"/>
              </a:lnSpc>
              <a:spcBef>
                <a:spcPct val="0"/>
              </a:spcBef>
            </a:pPr>
            <a:r>
              <a:rPr lang="en-US" sz="6226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607165">
            <a:off x="15656849" y="511527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72861" y="5564143"/>
            <a:ext cx="5944491" cy="3492389"/>
          </a:xfrm>
          <a:custGeom>
            <a:avLst/>
            <a:gdLst/>
            <a:ahLst/>
            <a:cxnLst/>
            <a:rect l="l" t="t" r="r" b="b"/>
            <a:pathLst>
              <a:path w="5944491" h="3492389">
                <a:moveTo>
                  <a:pt x="0" y="0"/>
                </a:moveTo>
                <a:lnTo>
                  <a:pt x="5944491" y="0"/>
                </a:lnTo>
                <a:lnTo>
                  <a:pt x="5944491" y="3492388"/>
                </a:lnTo>
                <a:lnTo>
                  <a:pt x="0" y="3492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000915" y="5457149"/>
            <a:ext cx="6227547" cy="3590116"/>
          </a:xfrm>
          <a:custGeom>
            <a:avLst/>
            <a:gdLst/>
            <a:ahLst/>
            <a:cxnLst/>
            <a:rect l="l" t="t" r="r" b="b"/>
            <a:pathLst>
              <a:path w="6227547" h="3590116">
                <a:moveTo>
                  <a:pt x="0" y="0"/>
                </a:moveTo>
                <a:lnTo>
                  <a:pt x="6227548" y="0"/>
                </a:lnTo>
                <a:lnTo>
                  <a:pt x="6227548" y="3590115"/>
                </a:lnTo>
                <a:lnTo>
                  <a:pt x="0" y="3590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76031" y="1987124"/>
            <a:ext cx="15049770" cy="273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016" lvl="1" indent="-391508" algn="l">
              <a:lnSpc>
                <a:spcPts val="5476"/>
              </a:lnSpc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access the interactive dashboard to explore stock trends, prediction results, and evaluation metrics.</a:t>
            </a:r>
          </a:p>
          <a:p>
            <a:pPr marL="761426" lvl="1" indent="-380713" algn="l">
              <a:lnSpc>
                <a:spcPts val="5325"/>
              </a:lnSpc>
              <a:buFont typeface="Arial"/>
              <a:buChar char="•"/>
            </a:pPr>
            <a:r>
              <a:rPr lang="en-US" sz="35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provides insights that help investors and analysts understand potential market movements and make informed decisions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2860" y="1104900"/>
            <a:ext cx="641393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1"/>
              </a:lnSpc>
              <a:spcBef>
                <a:spcPct val="0"/>
              </a:spcBef>
            </a:pPr>
            <a:r>
              <a:rPr lang="en-US" sz="4726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USER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1607165">
            <a:off x="18775736" y="4387796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3" y="0"/>
                </a:lnTo>
                <a:lnTo>
                  <a:pt x="3871653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75623" y="3687162"/>
            <a:ext cx="4063313" cy="3786734"/>
          </a:xfrm>
          <a:custGeom>
            <a:avLst/>
            <a:gdLst/>
            <a:ahLst/>
            <a:cxnLst/>
            <a:rect l="l" t="t" r="r" b="b"/>
            <a:pathLst>
              <a:path w="4063313" h="3786734">
                <a:moveTo>
                  <a:pt x="0" y="0"/>
                </a:moveTo>
                <a:lnTo>
                  <a:pt x="4063312" y="0"/>
                </a:lnTo>
                <a:lnTo>
                  <a:pt x="4063312" y="3786734"/>
                </a:lnTo>
                <a:lnTo>
                  <a:pt x="0" y="3786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70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0919" y="1674757"/>
            <a:ext cx="14757547" cy="10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7627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FEATURE ENHANCEMENT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1526" y="3665238"/>
            <a:ext cx="9215507" cy="331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0744" lvl="1" indent="-540372" algn="l">
              <a:lnSpc>
                <a:spcPts val="8860"/>
              </a:lnSpc>
              <a:buAutoNum type="arabicPeriod"/>
            </a:pPr>
            <a:r>
              <a:rPr lang="en-US" sz="50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Data Cleaning </a:t>
            </a:r>
          </a:p>
          <a:p>
            <a:pPr marL="1080744" lvl="1" indent="-540372" algn="l">
              <a:lnSpc>
                <a:spcPts val="8860"/>
              </a:lnSpc>
              <a:buAutoNum type="arabicPeriod"/>
            </a:pPr>
            <a:r>
              <a:rPr lang="en-US" sz="50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Outlier Detection</a:t>
            </a:r>
          </a:p>
          <a:p>
            <a:pPr marL="1080744" lvl="1" indent="-540372" algn="l">
              <a:lnSpc>
                <a:spcPts val="8860"/>
              </a:lnSpc>
              <a:buAutoNum type="arabicPeriod"/>
            </a:pPr>
            <a:r>
              <a:rPr lang="en-US" sz="50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Dashboard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088101" y="-9969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607165" flipH="1" flipV="1">
            <a:off x="-935701" y="-8445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607165">
            <a:off x="15647324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985042" y="1051181"/>
            <a:ext cx="7197558" cy="101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3"/>
              </a:lnSpc>
              <a:spcBef>
                <a:spcPct val="0"/>
              </a:spcBef>
            </a:pPr>
            <a:r>
              <a:rPr lang="en-US" sz="7542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8441" y="2633455"/>
            <a:ext cx="11815436" cy="590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39" lvl="1" indent="-496570" algn="l">
              <a:lnSpc>
                <a:spcPts val="781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can capture complex stock price patterns.</a:t>
            </a:r>
          </a:p>
          <a:p>
            <a:pPr marL="993139" lvl="1" indent="-496570" algn="l">
              <a:lnSpc>
                <a:spcPts val="781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data-driven insights for investors and analysts.</a:t>
            </a:r>
          </a:p>
          <a:p>
            <a:pPr marL="993139" lvl="1" indent="-496570" algn="l">
              <a:lnSpc>
                <a:spcPts val="781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dashboards improve usability and visualization.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672196" y="826358"/>
            <a:ext cx="10406003" cy="975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04"/>
              </a:lnSpc>
              <a:spcBef>
                <a:spcPct val="0"/>
              </a:spcBef>
            </a:pPr>
            <a:r>
              <a:rPr lang="en-US" sz="7259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CORE MODULES</a:t>
            </a:r>
          </a:p>
        </p:txBody>
      </p:sp>
      <p:sp>
        <p:nvSpPr>
          <p:cNvPr id="6" name="Freeform 6"/>
          <p:cNvSpPr/>
          <p:nvPr/>
        </p:nvSpPr>
        <p:spPr>
          <a:xfrm rot="1607165" flipH="1" flipV="1">
            <a:off x="-1088101" y="-9969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21921" y="2275814"/>
            <a:ext cx="13793028" cy="749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6865" lvl="1" indent="-463433" algn="l">
              <a:lnSpc>
                <a:spcPts val="7426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Module – Handles missing values, removes outliers, and normalizes the dataset.</a:t>
            </a:r>
          </a:p>
          <a:p>
            <a:pPr marL="926865" lvl="1" indent="-463433" algn="l">
              <a:lnSpc>
                <a:spcPts val="7426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Module – Implements an LSTM deep learning model to forecast future stock price trends.</a:t>
            </a:r>
          </a:p>
          <a:p>
            <a:pPr marL="926865" lvl="1" indent="-463433" algn="l">
              <a:lnSpc>
                <a:spcPts val="7426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Module – Displays stock trends, prediction graphs, and evaluation metrics through an interactive dashboard.</a:t>
            </a:r>
          </a:p>
          <a:p>
            <a:pPr algn="l">
              <a:lnSpc>
                <a:spcPts val="7426"/>
              </a:lnSpc>
            </a:pPr>
            <a:endParaRPr lang="en-US" sz="429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577" y="1600598"/>
            <a:ext cx="6744528" cy="3233202"/>
          </a:xfrm>
          <a:custGeom>
            <a:avLst/>
            <a:gdLst/>
            <a:ahLst/>
            <a:cxnLst/>
            <a:rect l="l" t="t" r="r" b="b"/>
            <a:pathLst>
              <a:path w="6744528" h="3233202">
                <a:moveTo>
                  <a:pt x="0" y="0"/>
                </a:moveTo>
                <a:lnTo>
                  <a:pt x="6744528" y="0"/>
                </a:lnTo>
                <a:lnTo>
                  <a:pt x="6744528" y="3233202"/>
                </a:lnTo>
                <a:lnTo>
                  <a:pt x="0" y="3233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69886" y="1493403"/>
            <a:ext cx="6448330" cy="3359972"/>
          </a:xfrm>
          <a:custGeom>
            <a:avLst/>
            <a:gdLst/>
            <a:ahLst/>
            <a:cxnLst/>
            <a:rect l="l" t="t" r="r" b="b"/>
            <a:pathLst>
              <a:path w="6448330" h="3359972">
                <a:moveTo>
                  <a:pt x="0" y="0"/>
                </a:moveTo>
                <a:lnTo>
                  <a:pt x="6448330" y="0"/>
                </a:lnTo>
                <a:lnTo>
                  <a:pt x="6448330" y="3359972"/>
                </a:lnTo>
                <a:lnTo>
                  <a:pt x="0" y="335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159733" y="6493788"/>
            <a:ext cx="9034318" cy="3022331"/>
          </a:xfrm>
          <a:custGeom>
            <a:avLst/>
            <a:gdLst/>
            <a:ahLst/>
            <a:cxnLst/>
            <a:rect l="l" t="t" r="r" b="b"/>
            <a:pathLst>
              <a:path w="9034318" h="3022331">
                <a:moveTo>
                  <a:pt x="0" y="0"/>
                </a:moveTo>
                <a:lnTo>
                  <a:pt x="9034318" y="0"/>
                </a:lnTo>
                <a:lnTo>
                  <a:pt x="9034318" y="3022331"/>
                </a:lnTo>
                <a:lnTo>
                  <a:pt x="0" y="3022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74154" y="561825"/>
            <a:ext cx="6403246" cy="634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21"/>
              </a:lnSpc>
              <a:spcBef>
                <a:spcPct val="0"/>
              </a:spcBef>
            </a:pPr>
            <a:r>
              <a:rPr lang="en-US" sz="4726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Data 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1385" y="597258"/>
            <a:ext cx="3723419" cy="60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4426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Visualization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85721" y="5348675"/>
            <a:ext cx="3084165" cy="71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  <a:spcBef>
                <a:spcPct val="0"/>
              </a:spcBef>
            </a:pPr>
            <a:r>
              <a:rPr lang="en-US" sz="5326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DashBoard </a:t>
            </a:r>
          </a:p>
        </p:txBody>
      </p:sp>
      <p:sp>
        <p:nvSpPr>
          <p:cNvPr id="8" name="Freeform 8"/>
          <p:cNvSpPr/>
          <p:nvPr/>
        </p:nvSpPr>
        <p:spPr>
          <a:xfrm rot="1607165" flipH="1" flipV="1">
            <a:off x="-1088101" y="-9969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088101" y="-9969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80906" y="2414197"/>
            <a:ext cx="6938597" cy="3131042"/>
          </a:xfrm>
          <a:custGeom>
            <a:avLst/>
            <a:gdLst/>
            <a:ahLst/>
            <a:cxnLst/>
            <a:rect l="l" t="t" r="r" b="b"/>
            <a:pathLst>
              <a:path w="6938597" h="3131042">
                <a:moveTo>
                  <a:pt x="0" y="0"/>
                </a:moveTo>
                <a:lnTo>
                  <a:pt x="6938597" y="0"/>
                </a:lnTo>
                <a:lnTo>
                  <a:pt x="6938597" y="3131041"/>
                </a:lnTo>
                <a:lnTo>
                  <a:pt x="0" y="3131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25610" y="6259468"/>
            <a:ext cx="7627111" cy="2685737"/>
          </a:xfrm>
          <a:custGeom>
            <a:avLst/>
            <a:gdLst/>
            <a:ahLst/>
            <a:cxnLst/>
            <a:rect l="l" t="t" r="r" b="b"/>
            <a:pathLst>
              <a:path w="7627111" h="2685737">
                <a:moveTo>
                  <a:pt x="0" y="0"/>
                </a:moveTo>
                <a:lnTo>
                  <a:pt x="7627111" y="0"/>
                </a:lnTo>
                <a:lnTo>
                  <a:pt x="7627111" y="2685737"/>
                </a:lnTo>
                <a:lnTo>
                  <a:pt x="0" y="2685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510964" y="3348012"/>
            <a:ext cx="6066932" cy="3385172"/>
          </a:xfrm>
          <a:custGeom>
            <a:avLst/>
            <a:gdLst/>
            <a:ahLst/>
            <a:cxnLst/>
            <a:rect l="l" t="t" r="r" b="b"/>
            <a:pathLst>
              <a:path w="6066932" h="3385172">
                <a:moveTo>
                  <a:pt x="0" y="0"/>
                </a:moveTo>
                <a:lnTo>
                  <a:pt x="6066932" y="0"/>
                </a:lnTo>
                <a:lnTo>
                  <a:pt x="6066932" y="3385172"/>
                </a:lnTo>
                <a:lnTo>
                  <a:pt x="0" y="3385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30543" y="1029918"/>
            <a:ext cx="4158853" cy="83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1"/>
              </a:lnSpc>
              <a:spcBef>
                <a:spcPct val="0"/>
              </a:spcBef>
            </a:pPr>
            <a:r>
              <a:rPr lang="en-US" sz="6226" b="1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Performance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16622" y="1123950"/>
            <a:ext cx="3694778" cy="769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  <a:spcBef>
                <a:spcPct val="0"/>
              </a:spcBef>
            </a:pPr>
            <a:r>
              <a:rPr lang="en-US" sz="5726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935701" y="-8445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492472" y="1335500"/>
            <a:ext cx="6842528" cy="975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02"/>
              </a:lnSpc>
              <a:spcBef>
                <a:spcPct val="0"/>
              </a:spcBef>
            </a:pPr>
            <a:r>
              <a:rPr lang="en-US" sz="7257" b="1" dirty="0">
                <a:solidFill>
                  <a:srgbClr val="00000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21551" y="2775593"/>
            <a:ext cx="13277228" cy="585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6015" lvl="1" indent="-528007" algn="l">
              <a:lnSpc>
                <a:spcPts val="7777"/>
              </a:lnSpc>
              <a:buFont typeface="Arial"/>
              <a:buChar char="•"/>
            </a:pPr>
            <a:r>
              <a:rPr lang="en-US" sz="48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how deep learning can forecast stock trends.</a:t>
            </a:r>
          </a:p>
          <a:p>
            <a:pPr marL="1056015" lvl="1" indent="-528007" algn="l">
              <a:lnSpc>
                <a:spcPts val="7777"/>
              </a:lnSpc>
              <a:buFont typeface="Arial"/>
              <a:buChar char="•"/>
            </a:pPr>
            <a:r>
              <a:rPr lang="en-US" sz="48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models effectively learn time-series dependencies in financial data.</a:t>
            </a:r>
          </a:p>
          <a:p>
            <a:pPr marL="1056015" lvl="1" indent="-528007" algn="l">
              <a:lnSpc>
                <a:spcPts val="7777"/>
              </a:lnSpc>
              <a:buFont typeface="Arial"/>
              <a:buChar char="•"/>
            </a:pPr>
            <a:r>
              <a:rPr lang="en-US" sz="48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meaningful predictions and visual insights.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935701" y="-8445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157828" y="1381700"/>
            <a:ext cx="14718144" cy="7083963"/>
          </a:xfrm>
          <a:custGeom>
            <a:avLst/>
            <a:gdLst/>
            <a:ahLst/>
            <a:cxnLst/>
            <a:rect l="l" t="t" r="r" b="b"/>
            <a:pathLst>
              <a:path w="14718144" h="7083963">
                <a:moveTo>
                  <a:pt x="0" y="0"/>
                </a:moveTo>
                <a:lnTo>
                  <a:pt x="14718144" y="0"/>
                </a:lnTo>
                <a:lnTo>
                  <a:pt x="14718144" y="7083963"/>
                </a:lnTo>
                <a:lnTo>
                  <a:pt x="0" y="7083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434" b="-843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455</Words>
  <Application>Microsoft Office PowerPoint</Application>
  <PresentationFormat>Custom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Times New Roman</vt:lpstr>
      <vt:lpstr>Cormorant Garamond Semi-Bold</vt:lpstr>
      <vt:lpstr>Calibri</vt:lpstr>
      <vt:lpstr>Times New Roman Bold</vt:lpstr>
      <vt:lpstr>Work Sans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Minimalist Professional Project Presentation</dc:title>
  <dc:creator>24EU01024 KANAKAMEDALA SAMYUTHA</dc:creator>
  <cp:lastModifiedBy> 24EU01024 KANAKAMEDALA SAMYUTHA </cp:lastModifiedBy>
  <cp:revision>2</cp:revision>
  <dcterms:created xsi:type="dcterms:W3CDTF">2006-08-16T00:00:00Z</dcterms:created>
  <dcterms:modified xsi:type="dcterms:W3CDTF">2026-03-14T07:05:07Z</dcterms:modified>
  <dc:identifier>DAHDvdCvylk</dc:identifier>
</cp:coreProperties>
</file>